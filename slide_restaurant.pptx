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A583-AB63-C63B-52D3-218786C85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12D30-B979-7C5A-1206-2D0945804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0484B-937A-7B3F-BE7E-9607A5E14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9EDBD-BE2A-9A5D-9F4F-AFDD967A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E3E70-A24B-8A55-7AB9-57536322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0048-E9FA-07C2-F685-289C187C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453E3-DF93-2CE9-CD67-C3DAFA522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7C60C-325D-8DF6-B9F2-BBF35B48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4FF13-B84B-6E6C-E10D-55489A4C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66B88-E6E9-E719-9F51-2EABC5505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6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CF1AE-ADBC-6F58-97FD-336B90B9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8A0D-AACF-FB32-1662-1DDC2D57D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4C04D-1CE7-9306-CFCE-2F3B26AAC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CDF14-2D23-A371-C6F4-18DF1264E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AFCCB-D4A8-ABA1-286B-45AB5875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2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F349-C068-AD5E-8DBD-E828A32A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7F4B6-7247-94C6-99BF-379A433E0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63475-9A54-78A8-FCB5-D66338FD1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03EAC-63A1-B8E2-AB69-1E5B2105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5DAAA-2D45-9D7E-6A5A-6CBB28C3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6DBD4-2235-F250-0589-F4D7790B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2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6021-5716-3E0D-3205-06D8F191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64F78-C131-D9F6-AE03-1D9D2529D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F29A9-A641-AD87-8549-18EF4A68A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FED7D-E8CA-A5E0-02FD-77E867830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1E8E7-FC09-DFB4-D6BD-433212F45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E11CC-F064-8C6F-5CEE-D0C091AE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52332-DDC0-8A0D-F64B-DE9302D3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BAD0F-9238-3093-D1A5-6DB85464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7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A50A-DC69-DC38-C97A-5B41DAD2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1A20EC-4DED-D222-4521-752A5083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FBE31-EBFA-E0AB-CE4D-105BB7E7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13A21-1264-77A3-914A-F3737942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3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6802F-9F21-DAFB-3EDF-B441EB7E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71095-D6AF-7528-75F5-B4AF558F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A6EB2-67D4-D526-AD14-DD458F13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23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0BA2-67F6-5FC7-01FD-61301BFE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67DFC-743E-913E-E874-0A7ED8E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C58FD-316E-DB0C-C8CC-2335551CB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3F38B-71AE-1332-578F-3020B575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524F9-6FA2-DA5F-DE02-0535BA7A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79AA9-6D8F-DCA1-25CE-3F0EECF6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2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4133-14D4-A2F0-231E-95ED4936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6CE8E7-829D-BCED-3AC9-8AEE6A3DF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CC678-3CEC-60E2-5E50-9C361801F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EBF01-BF22-9C0B-B3EC-30DD4EC6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A5F12-4D79-92EA-AB7E-3E4A30A8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3454E-DAA8-43A1-E53F-2A4C5FA6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46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C125-70F7-F0C3-B1D5-4977DCE8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B291B-7712-4AF6-CEC0-F5A3508FE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DF21D-F8FC-83EE-740A-4DB8FFCB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22C03-6B0A-7EE1-610D-09AD5A23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AC01B-7298-4C2A-7252-4A87AD54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6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ABD0A8-D94D-20C4-EBD2-5F7C021BF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2058F-ADE7-E9B6-DF01-68B28E60E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ED8BE-F09F-73AA-43BC-9EC490BC2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2A4C8-5DDD-D697-93A3-10CE3680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8B6CB-330F-B68D-E140-F9EF1692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8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811F0-68C7-6A6F-C7F4-B55A702B3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D667-3877-27E2-BA42-B69FA2294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F93D0-B71F-CCE7-B7C4-F10877BAC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E2A075-F7D8-9943-B56B-53937A332A1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9A98-4C68-6920-50E1-C753ED7E8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48D6-D78E-716F-62D0-A2104A2E1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D14F5-3158-EF49-8528-9EC9E2126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244E20-5F6D-E54F-4991-E15C47FB6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66" y="129122"/>
            <a:ext cx="6300439" cy="389646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86B1E5-2B05-DC8C-0D0F-CD5EA9337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933232"/>
              </p:ext>
            </p:extLst>
          </p:nvPr>
        </p:nvGraphicFramePr>
        <p:xfrm>
          <a:off x="7189433" y="425528"/>
          <a:ext cx="4229415" cy="39989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49840">
                  <a:extLst>
                    <a:ext uri="{9D8B030D-6E8A-4147-A177-3AD203B41FA5}">
                      <a16:colId xmlns:a16="http://schemas.microsoft.com/office/drawing/2014/main" val="354740881"/>
                    </a:ext>
                  </a:extLst>
                </a:gridCol>
                <a:gridCol w="3479575">
                  <a:extLst>
                    <a:ext uri="{9D8B030D-6E8A-4147-A177-3AD203B41FA5}">
                      <a16:colId xmlns:a16="http://schemas.microsoft.com/office/drawing/2014/main" val="3423665306"/>
                    </a:ext>
                  </a:extLst>
                </a:gridCol>
              </a:tblGrid>
              <a:tr h="435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Locations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179616"/>
                  </a:ext>
                </a:extLst>
              </a:tr>
              <a:tr h="471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rgbClr val="FF0000"/>
                          </a:solidFill>
                        </a:rPr>
                        <a:t>3.7</a:t>
                      </a:r>
                      <a:endParaRPr lang="en-CA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solidFill>
                            <a:srgbClr val="FF0000"/>
                          </a:solidFill>
                        </a:rPr>
                        <a:t>Montfort; San Jacinto; Park District - Petite Market &amp; Bakery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97180"/>
                  </a:ext>
                </a:extLst>
              </a:tr>
              <a:tr h="273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4.0</a:t>
                      </a:r>
                      <a:endParaRPr lang="en-CA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Preston Forest; Coit &amp; Campbell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59514"/>
                  </a:ext>
                </a:extLst>
              </a:tr>
              <a:tr h="471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/>
                        <a:t>4.1</a:t>
                      </a:r>
                      <a:endParaRPr lang="en-CA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MacArthur; Midway; Lakeline; DFW; South Arlington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963814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/>
                        <a:t>4.2</a:t>
                      </a:r>
                      <a:endParaRPr lang="en-CA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Spring; Collin Creek; Mockingbird; West Grand; Huebner Oaks; Arboretum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555289"/>
                  </a:ext>
                </a:extLst>
              </a:tr>
              <a:tr h="612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/>
                        <a:t>4.3</a:t>
                      </a:r>
                      <a:endParaRPr lang="en-CA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First Colony; Northwoods; Town &amp; Country; Champions; Carillon; The Forum; Park North; Crossroads; Clearlake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979199"/>
                  </a:ext>
                </a:extLst>
              </a:tr>
              <a:tr h="471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/>
                        <a:t>4.4</a:t>
                      </a:r>
                      <a:endParaRPr lang="en-CA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Parkway Village; Kingsgate; La Villita; Tierra Del Este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371041"/>
                  </a:ext>
                </a:extLst>
              </a:tr>
              <a:tr h="273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/>
                        <a:t>4.5</a:t>
                      </a:r>
                      <a:endParaRPr lang="en-CA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Tanglewood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726889"/>
                  </a:ext>
                </a:extLst>
              </a:tr>
              <a:tr h="273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>
                          <a:solidFill>
                            <a:srgbClr val="00B050"/>
                          </a:solidFill>
                        </a:rPr>
                        <a:t>4.6</a:t>
                      </a:r>
                      <a:endParaRPr lang="en-CA" sz="110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solidFill>
                            <a:srgbClr val="00B050"/>
                          </a:solidFill>
                        </a:rPr>
                        <a:t>Fountains at Farrah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277579"/>
                  </a:ext>
                </a:extLst>
              </a:tr>
              <a:tr h="273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>
                          <a:solidFill>
                            <a:srgbClr val="00B050"/>
                          </a:solidFill>
                        </a:rPr>
                        <a:t>4.7</a:t>
                      </a:r>
                      <a:endParaRPr lang="en-CA" sz="110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>
                          <a:solidFill>
                            <a:srgbClr val="00B050"/>
                          </a:solidFill>
                        </a:rPr>
                        <a:t>Gates of Prosper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058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FEB8509-F824-9F18-CEDA-414FD333089E}"/>
              </a:ext>
            </a:extLst>
          </p:cNvPr>
          <p:cNvSpPr txBox="1"/>
          <p:nvPr/>
        </p:nvSpPr>
        <p:spPr>
          <a:xfrm>
            <a:off x="7312098" y="129122"/>
            <a:ext cx="35240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/>
              <a:t>Location Grouped by Rating (Texas)</a:t>
            </a:r>
            <a:endParaRPr lang="en-US" sz="1200" b="1" dirty="0"/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76CB259F-E290-888B-E375-7694C4E139D3}"/>
              </a:ext>
            </a:extLst>
          </p:cNvPr>
          <p:cNvCxnSpPr>
            <a:cxnSpLocks/>
          </p:cNvCxnSpPr>
          <p:nvPr/>
        </p:nvCxnSpPr>
        <p:spPr>
          <a:xfrm>
            <a:off x="5386969" y="569750"/>
            <a:ext cx="1694055" cy="13277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">
            <a:extLst>
              <a:ext uri="{FF2B5EF4-FFF2-40B4-BE49-F238E27FC236}">
                <a16:creationId xmlns:a16="http://schemas.microsoft.com/office/drawing/2014/main" id="{4C96957B-E937-D534-A2D8-DB40BC2FF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40" y="4210256"/>
            <a:ext cx="63004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i="1" dirty="0">
                <a:latin typeface="Arial" panose="020B0604020202020204" pitchFamily="34" charset="0"/>
              </a:rPr>
              <a:t>The left chart provides a state-level overview of rating distributions, showing that customer satisfaction is generally consistent across regions.</a:t>
            </a:r>
            <a:r>
              <a:rPr lang="zh-CN" altLang="en-US" sz="1200" i="1" dirty="0">
                <a:latin typeface="Arial" panose="020B0604020202020204" pitchFamily="34" charset="0"/>
              </a:rPr>
              <a:t> </a:t>
            </a:r>
            <a:r>
              <a:rPr kumimoji="0" lang="en-US" altLang="en-US" sz="1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right table zooms in on Texas at the location level, revealing that individual stores drive the variation within the state.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09C601-967C-9A63-FA67-2E672375E0E2}"/>
              </a:ext>
            </a:extLst>
          </p:cNvPr>
          <p:cNvSpPr txBox="1"/>
          <p:nvPr/>
        </p:nvSpPr>
        <p:spPr>
          <a:xfrm>
            <a:off x="2713771" y="5425511"/>
            <a:ext cx="31071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000" b="1" dirty="0" err="1">
                <a:solidFill>
                  <a:srgbClr val="1A1A22"/>
                </a:solidFill>
                <a:effectLst/>
                <a:latin typeface="Helvetica" pitchFamily="2" charset="0"/>
              </a:rPr>
              <a:t>locationName</a:t>
            </a:r>
            <a:r>
              <a:rPr lang="en-US" altLang="zh-CN" sz="1000" b="1" dirty="0">
                <a:solidFill>
                  <a:srgbClr val="1A1A22"/>
                </a:solidFill>
                <a:latin typeface="Helvetica" pitchFamily="2" charset="0"/>
              </a:rPr>
              <a:t>:</a:t>
            </a:r>
            <a:r>
              <a:rPr lang="zh-CN" altLang="en-US" sz="1000" b="1" dirty="0">
                <a:solidFill>
                  <a:srgbClr val="1A1A22"/>
                </a:solidFill>
                <a:latin typeface="Helvetica" pitchFamily="2" charset="0"/>
              </a:rPr>
              <a:t> </a:t>
            </a:r>
            <a:r>
              <a:rPr lang="en-CA" sz="1000" dirty="0">
                <a:solidFill>
                  <a:srgbClr val="1A1A22"/>
                </a:solidFill>
                <a:effectLst/>
                <a:latin typeface="Helvetica" pitchFamily="2" charset="0"/>
              </a:rPr>
              <a:t>//div[@class='</a:t>
            </a:r>
            <a:r>
              <a:rPr lang="en-CA" sz="1000" dirty="0" err="1">
                <a:solidFill>
                  <a:srgbClr val="1A1A22"/>
                </a:solidFill>
                <a:effectLst/>
                <a:latin typeface="Helvetica" pitchFamily="2" charset="0"/>
              </a:rPr>
              <a:t>location__name</a:t>
            </a:r>
            <a:r>
              <a:rPr lang="en-CA" sz="1000" dirty="0">
                <a:solidFill>
                  <a:srgbClr val="1A1A22"/>
                </a:solidFill>
                <a:effectLst/>
                <a:latin typeface="Helvetica" pitchFamily="2" charset="0"/>
              </a:rPr>
              <a:t>']</a:t>
            </a:r>
          </a:p>
          <a:p>
            <a:pPr>
              <a:buNone/>
            </a:pPr>
            <a:r>
              <a:rPr lang="en-CA" sz="1000" b="1" dirty="0">
                <a:solidFill>
                  <a:srgbClr val="1A1A22"/>
                </a:solidFill>
                <a:effectLst/>
                <a:latin typeface="Helvetica" pitchFamily="2" charset="0"/>
              </a:rPr>
              <a:t>Hours</a:t>
            </a:r>
            <a:r>
              <a:rPr lang="en-US" altLang="zh-CN" sz="1000" b="1" dirty="0">
                <a:solidFill>
                  <a:srgbClr val="1A1A22"/>
                </a:solidFill>
                <a:effectLst/>
                <a:latin typeface="Helvetica" pitchFamily="2" charset="0"/>
              </a:rPr>
              <a:t>:</a:t>
            </a:r>
            <a:r>
              <a:rPr lang="zh-CN" altLang="en-US" sz="1000" b="1" dirty="0">
                <a:solidFill>
                  <a:srgbClr val="1A1A22"/>
                </a:solidFill>
                <a:effectLst/>
                <a:latin typeface="Helvetica" pitchFamily="2" charset="0"/>
              </a:rPr>
              <a:t> </a:t>
            </a:r>
            <a:r>
              <a:rPr lang="en-CA" sz="1000" dirty="0">
                <a:solidFill>
                  <a:srgbClr val="1A1A22"/>
                </a:solidFill>
                <a:effectLst/>
                <a:latin typeface="Helvetica" pitchFamily="2" charset="0"/>
              </a:rPr>
              <a:t>//p[@class='</a:t>
            </a:r>
            <a:r>
              <a:rPr lang="en-CA" sz="1000" dirty="0" err="1">
                <a:solidFill>
                  <a:srgbClr val="1A1A22"/>
                </a:solidFill>
                <a:effectLst/>
                <a:latin typeface="Helvetica" pitchFamily="2" charset="0"/>
              </a:rPr>
              <a:t>location__hours</a:t>
            </a:r>
            <a:r>
              <a:rPr lang="en-CA" sz="1000" dirty="0">
                <a:solidFill>
                  <a:srgbClr val="1A1A22"/>
                </a:solidFill>
                <a:effectLst/>
                <a:latin typeface="Helvetica" pitchFamily="2" charset="0"/>
              </a:rPr>
              <a:t>']</a:t>
            </a:r>
          </a:p>
          <a:p>
            <a:pPr>
              <a:buNone/>
            </a:pPr>
            <a:r>
              <a:rPr lang="en-CA" sz="1000" b="1" dirty="0" err="1">
                <a:solidFill>
                  <a:srgbClr val="1A1A22"/>
                </a:solidFill>
                <a:effectLst/>
                <a:latin typeface="Helvetica" pitchFamily="2" charset="0"/>
              </a:rPr>
              <a:t>phoneNumber</a:t>
            </a:r>
            <a:r>
              <a:rPr lang="en-CA" sz="1000" b="1" dirty="0">
                <a:solidFill>
                  <a:srgbClr val="1A1A22"/>
                </a:solidFill>
                <a:effectLst/>
                <a:latin typeface="Helvetica" pitchFamily="2" charset="0"/>
              </a:rPr>
              <a:t>: </a:t>
            </a:r>
            <a:r>
              <a:rPr lang="en-CA" sz="1000" dirty="0">
                <a:solidFill>
                  <a:srgbClr val="1A1A22"/>
                </a:solidFill>
                <a:effectLst/>
                <a:latin typeface="Helvetica" pitchFamily="2" charset="0"/>
              </a:rPr>
              <a:t>//div[@class='</a:t>
            </a:r>
            <a:r>
              <a:rPr lang="en-CA" sz="1000" dirty="0" err="1">
                <a:solidFill>
                  <a:srgbClr val="1A1A22"/>
                </a:solidFill>
                <a:effectLst/>
                <a:latin typeface="Helvetica" pitchFamily="2" charset="0"/>
              </a:rPr>
              <a:t>location__phone</a:t>
            </a:r>
            <a:r>
              <a:rPr lang="en-CA" sz="1000" dirty="0">
                <a:solidFill>
                  <a:srgbClr val="1A1A22"/>
                </a:solidFill>
                <a:effectLst/>
                <a:latin typeface="Helvetica" pitchFamily="2" charset="0"/>
              </a:rPr>
              <a:t>']/a</a:t>
            </a:r>
          </a:p>
          <a:p>
            <a:pPr>
              <a:buNone/>
            </a:pPr>
            <a:r>
              <a:rPr lang="en-CA" sz="1000" b="1" dirty="0">
                <a:solidFill>
                  <a:srgbClr val="1A1A22"/>
                </a:solidFill>
                <a:effectLst/>
                <a:latin typeface="Helvetica" pitchFamily="2" charset="0"/>
              </a:rPr>
              <a:t>Distance</a:t>
            </a:r>
            <a:r>
              <a:rPr lang="en-US" altLang="zh-CN" sz="1000" b="1" dirty="0">
                <a:solidFill>
                  <a:srgbClr val="1A1A22"/>
                </a:solidFill>
                <a:effectLst/>
                <a:latin typeface="Helvetica" pitchFamily="2" charset="0"/>
              </a:rPr>
              <a:t>:</a:t>
            </a:r>
            <a:r>
              <a:rPr lang="zh-CN" altLang="en-US" sz="1000" b="1" dirty="0">
                <a:solidFill>
                  <a:srgbClr val="1A1A22"/>
                </a:solidFill>
                <a:effectLst/>
                <a:latin typeface="Helvetica" pitchFamily="2" charset="0"/>
              </a:rPr>
              <a:t> </a:t>
            </a:r>
            <a:r>
              <a:rPr lang="en-CA" sz="1000" dirty="0">
                <a:solidFill>
                  <a:srgbClr val="1A1A22"/>
                </a:solidFill>
                <a:effectLst/>
                <a:latin typeface="Helvetica" pitchFamily="2" charset="0"/>
              </a:rPr>
              <a:t>//div[@class='</a:t>
            </a:r>
            <a:r>
              <a:rPr lang="en-CA" sz="1000" dirty="0" err="1">
                <a:solidFill>
                  <a:srgbClr val="1A1A22"/>
                </a:solidFill>
                <a:effectLst/>
                <a:latin typeface="Helvetica" pitchFamily="2" charset="0"/>
              </a:rPr>
              <a:t>location__distance</a:t>
            </a:r>
            <a:r>
              <a:rPr lang="en-CA" sz="1000" dirty="0">
                <a:solidFill>
                  <a:srgbClr val="1A1A22"/>
                </a:solidFill>
                <a:effectLst/>
                <a:latin typeface="Helvetica" pitchFamily="2" charset="0"/>
              </a:rPr>
              <a:t>']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7CC2CD-1B0E-1AAD-2A83-4C10B92E354A}"/>
              </a:ext>
            </a:extLst>
          </p:cNvPr>
          <p:cNvSpPr txBox="1"/>
          <p:nvPr/>
        </p:nvSpPr>
        <p:spPr>
          <a:xfrm>
            <a:off x="5617733" y="5149840"/>
            <a:ext cx="673440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050" b="1" dirty="0">
                <a:solidFill>
                  <a:srgbClr val="1A1A22"/>
                </a:solidFill>
                <a:effectLst/>
                <a:latin typeface="Helvetica" pitchFamily="2" charset="0"/>
              </a:rPr>
              <a:t>Latitude: </a:t>
            </a:r>
          </a:p>
          <a:p>
            <a:pPr>
              <a:buNone/>
            </a:pPr>
            <a:r>
              <a:rPr lang="en-CA" sz="1050" b="1" dirty="0">
                <a:solidFill>
                  <a:srgbClr val="1A1A22"/>
                </a:solidFill>
                <a:effectLst/>
                <a:latin typeface="Helvetica" pitchFamily="2" charset="0"/>
              </a:rPr>
              <a:t>XPath: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//p[contains(@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class,‘location__directions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’)]/a/@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href</a:t>
            </a:r>
            <a:r>
              <a:rPr lang="zh-CN" altLang="en-US" sz="1050" dirty="0">
                <a:solidFill>
                  <a:srgbClr val="1A1A22"/>
                </a:solidFill>
                <a:latin typeface="Helvetica" pitchFamily="2" charset="0"/>
              </a:rPr>
              <a:t> </a:t>
            </a:r>
            <a:r>
              <a:rPr lang="en-CA" sz="1050" b="1" dirty="0">
                <a:solidFill>
                  <a:srgbClr val="1A1A22"/>
                </a:solidFill>
                <a:effectLst/>
                <a:latin typeface="Helvetica" pitchFamily="2" charset="0"/>
              </a:rPr>
              <a:t>Regex: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destination=([-0-9.]+),</a:t>
            </a:r>
          </a:p>
          <a:p>
            <a:pPr>
              <a:buNone/>
            </a:pP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Alternative:</a:t>
            </a:r>
            <a:r>
              <a:rPr lang="zh-CN" altLang="en-US" sz="1050" dirty="0">
                <a:solidFill>
                  <a:srgbClr val="1A1A22"/>
                </a:solidFill>
                <a:effectLst/>
                <a:latin typeface="Helvetica" pitchFamily="2" charset="0"/>
              </a:rPr>
              <a:t>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XPath:</a:t>
            </a:r>
            <a:r>
              <a:rPr lang="zh-CN" altLang="en-US" sz="1050" dirty="0">
                <a:solidFill>
                  <a:srgbClr val="1A1A22"/>
                </a:solidFill>
                <a:effectLst/>
                <a:latin typeface="Helvetica" pitchFamily="2" charset="0"/>
              </a:rPr>
              <a:t>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//div[text()='San Jacinto']/ancestor::div[contains(@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class,'location__content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')]//a[contains(@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href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,'destination')]/@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href</a:t>
            </a:r>
            <a:endParaRPr lang="en-CA" sz="1050" dirty="0">
              <a:solidFill>
                <a:srgbClr val="1A1A22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Regex:</a:t>
            </a:r>
            <a:r>
              <a:rPr lang="zh-CN" altLang="en-US" sz="1050" dirty="0">
                <a:solidFill>
                  <a:srgbClr val="1A1A22"/>
                </a:solidFill>
                <a:effectLst/>
                <a:latin typeface="Helvetica" pitchFamily="2" charset="0"/>
              </a:rPr>
              <a:t>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destination=([-0-9.]+),</a:t>
            </a:r>
          </a:p>
          <a:p>
            <a:pPr>
              <a:buNone/>
            </a:pPr>
            <a:r>
              <a:rPr lang="en-CA" sz="1050" b="1" dirty="0">
                <a:solidFill>
                  <a:srgbClr val="1A1A22"/>
                </a:solidFill>
                <a:effectLst/>
                <a:latin typeface="Helvetica" pitchFamily="2" charset="0"/>
              </a:rPr>
              <a:t>Longitude:</a:t>
            </a:r>
            <a:r>
              <a:rPr lang="zh-CN" altLang="en-US" sz="1050" b="1" dirty="0">
                <a:solidFill>
                  <a:srgbClr val="1A1A22"/>
                </a:solidFill>
                <a:effectLst/>
                <a:latin typeface="Helvetica" pitchFamily="2" charset="0"/>
              </a:rPr>
              <a:t> </a:t>
            </a:r>
            <a:r>
              <a:rPr lang="en-CA" sz="1050" b="1" dirty="0">
                <a:solidFill>
                  <a:srgbClr val="1A1A22"/>
                </a:solidFill>
                <a:effectLst/>
                <a:latin typeface="Helvetica" pitchFamily="2" charset="0"/>
              </a:rPr>
              <a:t>XPath: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//p[contains(@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class,'location__directions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')]/a/@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href</a:t>
            </a:r>
            <a:r>
              <a:rPr lang="zh-CN" altLang="en-US" sz="1050" dirty="0">
                <a:solidFill>
                  <a:srgbClr val="1A1A22"/>
                </a:solidFill>
                <a:latin typeface="Helvetica" pitchFamily="2" charset="0"/>
              </a:rPr>
              <a:t> </a:t>
            </a:r>
            <a:r>
              <a:rPr lang="en-CA" sz="1050" b="1" dirty="0">
                <a:solidFill>
                  <a:srgbClr val="1A1A22"/>
                </a:solidFill>
                <a:effectLst/>
                <a:latin typeface="Helvetica" pitchFamily="2" charset="0"/>
              </a:rPr>
              <a:t>Regex: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,([-0-9.]+)</a:t>
            </a:r>
          </a:p>
          <a:p>
            <a:pPr>
              <a:buNone/>
            </a:pP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Alternative:</a:t>
            </a:r>
          </a:p>
          <a:p>
            <a:pPr>
              <a:buNone/>
            </a:pP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XPath:</a:t>
            </a:r>
            <a:r>
              <a:rPr lang="zh-CN" altLang="en-US" sz="1050" dirty="0">
                <a:solidFill>
                  <a:srgbClr val="1A1A22"/>
                </a:solidFill>
                <a:effectLst/>
                <a:latin typeface="Helvetica" pitchFamily="2" charset="0"/>
              </a:rPr>
              <a:t>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//div[text()=‘San</a:t>
            </a:r>
            <a:r>
              <a:rPr lang="zh-CN" altLang="en-US" sz="1050" dirty="0">
                <a:solidFill>
                  <a:srgbClr val="1A1A22"/>
                </a:solidFill>
                <a:effectLst/>
                <a:latin typeface="Helvetica" pitchFamily="2" charset="0"/>
              </a:rPr>
              <a:t>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Jacinto']/ancestor::div[contains(@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class,'location__content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')]//a[contains(@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href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,'destination')]/@</a:t>
            </a:r>
            <a:r>
              <a:rPr lang="en-CA" sz="1050" dirty="0" err="1">
                <a:solidFill>
                  <a:srgbClr val="1A1A22"/>
                </a:solidFill>
                <a:effectLst/>
                <a:latin typeface="Helvetica" pitchFamily="2" charset="0"/>
              </a:rPr>
              <a:t>href</a:t>
            </a:r>
            <a:endParaRPr lang="en-CA" sz="1050" dirty="0">
              <a:solidFill>
                <a:srgbClr val="1A1A22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Regex:</a:t>
            </a:r>
            <a:r>
              <a:rPr lang="zh-CN" altLang="en-US" sz="1050" dirty="0">
                <a:solidFill>
                  <a:srgbClr val="1A1A22"/>
                </a:solidFill>
                <a:effectLst/>
                <a:latin typeface="Helvetica" pitchFamily="2" charset="0"/>
              </a:rPr>
              <a:t> </a:t>
            </a:r>
            <a:r>
              <a:rPr lang="en-CA" sz="1050" dirty="0">
                <a:solidFill>
                  <a:srgbClr val="1A1A22"/>
                </a:solidFill>
                <a:effectLst/>
                <a:latin typeface="Helvetica" pitchFamily="2" charset="0"/>
              </a:rPr>
              <a:t>destination=[-0-9.]+,([-0-9.]+)</a:t>
            </a:r>
          </a:p>
        </p:txBody>
      </p:sp>
    </p:spTree>
    <p:extLst>
      <p:ext uri="{BB962C8B-B14F-4D97-AF65-F5344CB8AC3E}">
        <p14:creationId xmlns:p14="http://schemas.microsoft.com/office/powerpoint/2010/main" val="417885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316</Words>
  <Application>Microsoft Macintosh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 Bai</dc:creator>
  <cp:lastModifiedBy>Xiao Bai</cp:lastModifiedBy>
  <cp:revision>4</cp:revision>
  <dcterms:created xsi:type="dcterms:W3CDTF">2026-05-06T21:50:29Z</dcterms:created>
  <dcterms:modified xsi:type="dcterms:W3CDTF">2026-05-06T23:04:32Z</dcterms:modified>
</cp:coreProperties>
</file>